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ounded Rectangle 1"/>
          <p:cNvSpPr/>
          <p:nvPr/>
        </p:nvSpPr>
        <p:spPr>
          <a:xfrm>
            <a:off x="822960" y="1005840"/>
            <a:ext cx="1051560" cy="1051560"/>
          </a:xfrm>
          <a:prstGeom prst="roundRect">
            <a:avLst>
              <a:gd name="adj" fmla="val 6000"/>
            </a:avLst>
          </a:prstGeom>
          <a:solidFill>
            <a:srgbClr val="0B0E14"/>
          </a:solidFill>
          <a:ln w="38100">
            <a:solidFill>
              <a:srgbClr val="2DD4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43584"/>
            <a:ext cx="1051560" cy="548640"/>
          </a:xfrm>
          <a:prstGeom prst="rect">
            <a:avLst/>
          </a:prstGeom>
          <a:noFill/>
        </p:spPr>
        <p:txBody>
          <a:bodyPr wrap="square">
            <a:spAutoFit/>
          </a:bodyPr>
          <a:lstStyle/>
          <a:p>
            <a:pPr algn="ctr">
              <a:lnSpc>
                <a:spcPct val="100000"/>
              </a:lnSpc>
            </a:pPr>
            <a:r>
              <a:rPr sz="4000" b="1">
                <a:solidFill>
                  <a:srgbClr val="2DD47F"/>
                </a:solidFill>
                <a:latin typeface="Segoe UI"/>
              </a:rPr>
              <a:t>✓</a:t>
            </a:r>
          </a:p>
        </p:txBody>
      </p:sp>
      <p:sp>
        <p:nvSpPr>
          <p:cNvPr id="4" name="TextBox 3"/>
          <p:cNvSpPr txBox="1"/>
          <p:nvPr/>
        </p:nvSpPr>
        <p:spPr>
          <a:xfrm>
            <a:off x="777240" y="2286000"/>
            <a:ext cx="10515600" cy="1280160"/>
          </a:xfrm>
          <a:prstGeom prst="rect">
            <a:avLst/>
          </a:prstGeom>
          <a:noFill/>
        </p:spPr>
        <p:txBody>
          <a:bodyPr wrap="square">
            <a:spAutoFit/>
          </a:bodyPr>
          <a:lstStyle/>
          <a:p>
            <a:pPr algn="l">
              <a:lnSpc>
                <a:spcPct val="100000"/>
              </a:lnSpc>
            </a:pPr>
            <a:r>
              <a:rPr sz="6600" b="1">
                <a:solidFill>
                  <a:srgbClr val="E8ECF4"/>
                </a:solidFill>
                <a:latin typeface="Segoe UI"/>
              </a:rPr>
              <a:t>True</a:t>
            </a:r>
            <a:r>
              <a:rPr sz="6600" b="1">
                <a:solidFill>
                  <a:srgbClr val="2DD47F"/>
                </a:solidFill>
                <a:latin typeface="Segoe UI"/>
              </a:rPr>
              <a:t>Mic</a:t>
            </a:r>
          </a:p>
        </p:txBody>
      </p:sp>
      <p:sp>
        <p:nvSpPr>
          <p:cNvPr id="5" name="TextBox 4"/>
          <p:cNvSpPr txBox="1"/>
          <p:nvPr/>
        </p:nvSpPr>
        <p:spPr>
          <a:xfrm>
            <a:off x="822960" y="3429000"/>
            <a:ext cx="10515600" cy="731520"/>
          </a:xfrm>
          <a:prstGeom prst="rect">
            <a:avLst/>
          </a:prstGeom>
          <a:noFill/>
        </p:spPr>
        <p:txBody>
          <a:bodyPr wrap="square">
            <a:spAutoFit/>
          </a:bodyPr>
          <a:lstStyle/>
          <a:p>
            <a:pPr algn="l">
              <a:lnSpc>
                <a:spcPct val="100000"/>
              </a:lnSpc>
            </a:pPr>
            <a:r>
              <a:rPr sz="3000" b="0">
                <a:solidFill>
                  <a:srgbClr val="8B93A7"/>
                </a:solidFill>
                <a:latin typeface="Segoe UI"/>
              </a:rPr>
              <a:t>Only your voice commands your machine.</a:t>
            </a:r>
          </a:p>
        </p:txBody>
      </p:sp>
      <p:sp>
        <p:nvSpPr>
          <p:cNvPr id="6" name="TextBox 5"/>
          <p:cNvSpPr txBox="1"/>
          <p:nvPr/>
        </p:nvSpPr>
        <p:spPr>
          <a:xfrm>
            <a:off x="822960" y="4297680"/>
            <a:ext cx="10058400" cy="822960"/>
          </a:xfrm>
          <a:prstGeom prst="rect">
            <a:avLst/>
          </a:prstGeom>
          <a:noFill/>
        </p:spPr>
        <p:txBody>
          <a:bodyPr wrap="square">
            <a:spAutoFit/>
          </a:bodyPr>
          <a:lstStyle/>
          <a:p>
            <a:pPr algn="l">
              <a:lnSpc>
                <a:spcPct val="120000"/>
              </a:lnSpc>
            </a:pPr>
            <a:r>
              <a:rPr sz="1700" b="0">
                <a:solidFill>
                  <a:srgbClr val="E8ECF4"/>
                </a:solidFill>
                <a:latin typeface="Segoe UI"/>
              </a:rPr>
              <a:t>A real-time voice-authentication gate for the age of voice-first computing —
with cryptographic proof on the other end.</a:t>
            </a:r>
          </a:p>
        </p:txBody>
      </p:sp>
      <p:sp>
        <p:nvSpPr>
          <p:cNvPr id="7" name="TextBox 6"/>
          <p:cNvSpPr txBox="1"/>
          <p:nvPr/>
        </p:nvSpPr>
        <p:spPr>
          <a:xfrm>
            <a:off x="822960" y="5852160"/>
            <a:ext cx="10515600" cy="365760"/>
          </a:xfrm>
          <a:prstGeom prst="rect">
            <a:avLst/>
          </a:prstGeom>
          <a:noFill/>
        </p:spPr>
        <p:txBody>
          <a:bodyPr wrap="square">
            <a:spAutoFit/>
          </a:bodyPr>
          <a:lstStyle/>
          <a:p>
            <a:pPr algn="l">
              <a:lnSpc>
                <a:spcPct val="100000"/>
              </a:lnSpc>
            </a:pPr>
            <a:r>
              <a:rPr sz="1300" b="0">
                <a:solidFill>
                  <a:srgbClr val="2DD47F"/>
                </a:solidFill>
                <a:latin typeface="Consolas"/>
              </a:rPr>
              <a:t>github.com/HuzPro/truemic      GDG Kolachi · AI Seekho Builders Day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822960" y="502920"/>
            <a:ext cx="10058400" cy="365760"/>
          </a:xfrm>
          <a:prstGeom prst="rect">
            <a:avLst/>
          </a:prstGeom>
          <a:noFill/>
        </p:spPr>
        <p:txBody>
          <a:bodyPr wrap="square">
            <a:spAutoFit/>
          </a:bodyPr>
          <a:lstStyle/>
          <a:p>
            <a:pPr algn="l">
              <a:lnSpc>
                <a:spcPct val="100000"/>
              </a:lnSpc>
            </a:pPr>
            <a:r>
              <a:rPr sz="1300" b="1">
                <a:solidFill>
                  <a:srgbClr val="2DD47F"/>
                </a:solidFill>
                <a:latin typeface="Consolas"/>
              </a:rPr>
              <a:t>WHERE COMPUTING IS GOING</a:t>
            </a:r>
          </a:p>
        </p:txBody>
      </p:sp>
      <p:sp>
        <p:nvSpPr>
          <p:cNvPr id="3" name="TextBox 2"/>
          <p:cNvSpPr txBox="1"/>
          <p:nvPr/>
        </p:nvSpPr>
        <p:spPr>
          <a:xfrm>
            <a:off x="822960" y="960120"/>
            <a:ext cx="10515600" cy="914400"/>
          </a:xfrm>
          <a:prstGeom prst="rect">
            <a:avLst/>
          </a:prstGeom>
          <a:noFill/>
        </p:spPr>
        <p:txBody>
          <a:bodyPr wrap="square">
            <a:spAutoFit/>
          </a:bodyPr>
          <a:lstStyle/>
          <a:p>
            <a:pPr algn="l">
              <a:lnSpc>
                <a:spcPct val="100000"/>
              </a:lnSpc>
            </a:pPr>
            <a:r>
              <a:rPr sz="3600" b="1">
                <a:solidFill>
                  <a:srgbClr val="E8ECF4"/>
                </a:solidFill>
                <a:latin typeface="Segoe UI"/>
              </a:rPr>
              <a:t>The keyboard is losing its monopoly on intent.</a:t>
            </a:r>
          </a:p>
        </p:txBody>
      </p:sp>
      <p:sp>
        <p:nvSpPr>
          <p:cNvPr id="4" name="TextBox 3"/>
          <p:cNvSpPr txBox="1"/>
          <p:nvPr/>
        </p:nvSpPr>
        <p:spPr>
          <a:xfrm>
            <a:off x="822960" y="1965960"/>
            <a:ext cx="10332720" cy="1371600"/>
          </a:xfrm>
          <a:prstGeom prst="rect">
            <a:avLst/>
          </a:prstGeom>
          <a:noFill/>
        </p:spPr>
        <p:txBody>
          <a:bodyPr wrap="square">
            <a:spAutoFit/>
          </a:bodyPr>
          <a:lstStyle/>
          <a:p>
            <a:pPr algn="l">
              <a:lnSpc>
                <a:spcPct val="125000"/>
              </a:lnSpc>
            </a:pPr>
            <a:r>
              <a:rPr sz="1700" b="0">
                <a:solidFill>
                  <a:srgbClr val="8B93A7"/>
                </a:solidFill>
                <a:latin typeface="Segoe UI"/>
              </a:rPr>
              <a:t>Agents take instructions in natural language. Dictation replaces typing. OpenAI ships realtime voice engines; Wispr Flow turns speech into every keystroke. Within a few years, your voice is your primary input device — at your desk, in a café, on the street.</a:t>
            </a:r>
          </a:p>
        </p:txBody>
      </p:sp>
      <p:sp>
        <p:nvSpPr>
          <p:cNvPr id="5" name="Rounded Rectangle 4"/>
          <p:cNvSpPr/>
          <p:nvPr/>
        </p:nvSpPr>
        <p:spPr>
          <a:xfrm>
            <a:off x="822960" y="3931920"/>
            <a:ext cx="3362858" cy="1508760"/>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4069080"/>
            <a:ext cx="2905658" cy="320040"/>
          </a:xfrm>
          <a:prstGeom prst="rect">
            <a:avLst/>
          </a:prstGeom>
          <a:noFill/>
        </p:spPr>
        <p:txBody>
          <a:bodyPr wrap="square">
            <a:spAutoFit/>
          </a:bodyPr>
          <a:lstStyle/>
          <a:p>
            <a:pPr algn="l">
              <a:lnSpc>
                <a:spcPct val="100000"/>
              </a:lnSpc>
            </a:pPr>
            <a:r>
              <a:rPr sz="1150" b="1">
                <a:solidFill>
                  <a:srgbClr val="2DD47F"/>
                </a:solidFill>
                <a:latin typeface="Consolas"/>
              </a:rPr>
              <a:t>TODAY</a:t>
            </a:r>
          </a:p>
        </p:txBody>
      </p:sp>
      <p:sp>
        <p:nvSpPr>
          <p:cNvPr id="7" name="TextBox 6"/>
          <p:cNvSpPr txBox="1"/>
          <p:nvPr/>
        </p:nvSpPr>
        <p:spPr>
          <a:xfrm>
            <a:off x="1051560" y="4434840"/>
            <a:ext cx="2905658" cy="868680"/>
          </a:xfrm>
          <a:prstGeom prst="rect">
            <a:avLst/>
          </a:prstGeom>
          <a:noFill/>
        </p:spPr>
        <p:txBody>
          <a:bodyPr wrap="square">
            <a:spAutoFit/>
          </a:bodyPr>
          <a:lstStyle/>
          <a:p>
            <a:pPr algn="l">
              <a:lnSpc>
                <a:spcPct val="115000"/>
              </a:lnSpc>
            </a:pPr>
            <a:r>
              <a:rPr sz="1300" b="0">
                <a:solidFill>
                  <a:srgbClr val="8B93A7"/>
                </a:solidFill>
                <a:latin typeface="Segoe UI"/>
              </a:rPr>
              <a:t>Voice agents execute real actions: files, money, messages, code.</a:t>
            </a:r>
          </a:p>
        </p:txBody>
      </p:sp>
      <p:sp>
        <p:nvSpPr>
          <p:cNvPr id="8" name="Rounded Rectangle 7"/>
          <p:cNvSpPr/>
          <p:nvPr/>
        </p:nvSpPr>
        <p:spPr>
          <a:xfrm>
            <a:off x="4414418" y="3931920"/>
            <a:ext cx="3362858" cy="1508760"/>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3018" y="4069080"/>
            <a:ext cx="2905658" cy="320040"/>
          </a:xfrm>
          <a:prstGeom prst="rect">
            <a:avLst/>
          </a:prstGeom>
          <a:noFill/>
        </p:spPr>
        <p:txBody>
          <a:bodyPr wrap="square">
            <a:spAutoFit/>
          </a:bodyPr>
          <a:lstStyle/>
          <a:p>
            <a:pPr algn="l">
              <a:lnSpc>
                <a:spcPct val="100000"/>
              </a:lnSpc>
            </a:pPr>
            <a:r>
              <a:rPr sz="1150" b="1">
                <a:solidFill>
                  <a:srgbClr val="2DD47F"/>
                </a:solidFill>
                <a:latin typeface="Consolas"/>
              </a:rPr>
              <a:t>THE GAP</a:t>
            </a:r>
          </a:p>
        </p:txBody>
      </p:sp>
      <p:sp>
        <p:nvSpPr>
          <p:cNvPr id="10" name="TextBox 9"/>
          <p:cNvSpPr txBox="1"/>
          <p:nvPr/>
        </p:nvSpPr>
        <p:spPr>
          <a:xfrm>
            <a:off x="4643018" y="4434840"/>
            <a:ext cx="2905658" cy="868680"/>
          </a:xfrm>
          <a:prstGeom prst="rect">
            <a:avLst/>
          </a:prstGeom>
          <a:noFill/>
        </p:spPr>
        <p:txBody>
          <a:bodyPr wrap="square">
            <a:spAutoFit/>
          </a:bodyPr>
          <a:lstStyle/>
          <a:p>
            <a:pPr algn="l">
              <a:lnSpc>
                <a:spcPct val="115000"/>
              </a:lnSpc>
            </a:pPr>
            <a:r>
              <a:rPr sz="1300" b="0">
                <a:solidFill>
                  <a:srgbClr val="8B93A7"/>
                </a:solidFill>
                <a:latin typeface="Segoe UI"/>
              </a:rPr>
              <a:t>Every layer authenticates the account. Nothing authenticates the speaker.</a:t>
            </a:r>
          </a:p>
        </p:txBody>
      </p:sp>
      <p:sp>
        <p:nvSpPr>
          <p:cNvPr id="11" name="Rounded Rectangle 10"/>
          <p:cNvSpPr/>
          <p:nvPr/>
        </p:nvSpPr>
        <p:spPr>
          <a:xfrm>
            <a:off x="8005876" y="3931920"/>
            <a:ext cx="3362858" cy="1508760"/>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34476" y="4069080"/>
            <a:ext cx="2905658" cy="320040"/>
          </a:xfrm>
          <a:prstGeom prst="rect">
            <a:avLst/>
          </a:prstGeom>
          <a:noFill/>
        </p:spPr>
        <p:txBody>
          <a:bodyPr wrap="square">
            <a:spAutoFit/>
          </a:bodyPr>
          <a:lstStyle/>
          <a:p>
            <a:pPr algn="l">
              <a:lnSpc>
                <a:spcPct val="100000"/>
              </a:lnSpc>
            </a:pPr>
            <a:r>
              <a:rPr sz="1150" b="1">
                <a:solidFill>
                  <a:srgbClr val="2DD47F"/>
                </a:solidFill>
                <a:latin typeface="Consolas"/>
              </a:rPr>
              <a:t>THE CONSEQUENCE</a:t>
            </a:r>
          </a:p>
        </p:txBody>
      </p:sp>
      <p:sp>
        <p:nvSpPr>
          <p:cNvPr id="13" name="TextBox 12"/>
          <p:cNvSpPr txBox="1"/>
          <p:nvPr/>
        </p:nvSpPr>
        <p:spPr>
          <a:xfrm>
            <a:off x="8234476" y="4434840"/>
            <a:ext cx="2905658" cy="868680"/>
          </a:xfrm>
          <a:prstGeom prst="rect">
            <a:avLst/>
          </a:prstGeom>
          <a:noFill/>
        </p:spPr>
        <p:txBody>
          <a:bodyPr wrap="square">
            <a:spAutoFit/>
          </a:bodyPr>
          <a:lstStyle/>
          <a:p>
            <a:pPr algn="l">
              <a:lnSpc>
                <a:spcPct val="115000"/>
              </a:lnSpc>
            </a:pPr>
            <a:r>
              <a:rPr sz="1300" b="0">
                <a:solidFill>
                  <a:srgbClr val="8B93A7"/>
                </a:solidFill>
                <a:latin typeface="Segoe UI"/>
              </a:rPr>
              <a:t>Whoever is within earshot of your microphone can talk to your 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822960" y="502920"/>
            <a:ext cx="10058400" cy="365760"/>
          </a:xfrm>
          <a:prstGeom prst="rect">
            <a:avLst/>
          </a:prstGeom>
          <a:noFill/>
        </p:spPr>
        <p:txBody>
          <a:bodyPr wrap="square">
            <a:spAutoFit/>
          </a:bodyPr>
          <a:lstStyle/>
          <a:p>
            <a:pPr algn="l">
              <a:lnSpc>
                <a:spcPct val="100000"/>
              </a:lnSpc>
            </a:pPr>
            <a:r>
              <a:rPr sz="1300" b="1">
                <a:solidFill>
                  <a:srgbClr val="FF4D5E"/>
                </a:solidFill>
                <a:latin typeface="Consolas"/>
              </a:rPr>
              <a:t>IN-PERSON PROMPT INJECTION</a:t>
            </a:r>
          </a:p>
        </p:txBody>
      </p:sp>
      <p:sp>
        <p:nvSpPr>
          <p:cNvPr id="3" name="TextBox 2"/>
          <p:cNvSpPr txBox="1"/>
          <p:nvPr/>
        </p:nvSpPr>
        <p:spPr>
          <a:xfrm>
            <a:off x="822960" y="960120"/>
            <a:ext cx="10515600" cy="914400"/>
          </a:xfrm>
          <a:prstGeom prst="rect">
            <a:avLst/>
          </a:prstGeom>
          <a:noFill/>
        </p:spPr>
        <p:txBody>
          <a:bodyPr wrap="square">
            <a:spAutoFit/>
          </a:bodyPr>
          <a:lstStyle/>
          <a:p>
            <a:pPr algn="l">
              <a:lnSpc>
                <a:spcPct val="100000"/>
              </a:lnSpc>
            </a:pPr>
            <a:r>
              <a:rPr sz="3200" b="1">
                <a:solidFill>
                  <a:srgbClr val="E8ECF4"/>
                </a:solidFill>
                <a:latin typeface="Segoe UI"/>
              </a:rPr>
              <a:t>Anyone near your laptop can inject commands into your agent.</a:t>
            </a:r>
          </a:p>
        </p:txBody>
      </p:sp>
      <p:sp>
        <p:nvSpPr>
          <p:cNvPr id="4" name="TextBox 3"/>
          <p:cNvSpPr txBox="1"/>
          <p:nvPr/>
        </p:nvSpPr>
        <p:spPr>
          <a:xfrm>
            <a:off x="822960" y="2011680"/>
            <a:ext cx="10332720" cy="1280160"/>
          </a:xfrm>
          <a:prstGeom prst="rect">
            <a:avLst/>
          </a:prstGeom>
          <a:noFill/>
        </p:spPr>
        <p:txBody>
          <a:bodyPr wrap="square">
            <a:spAutoFit/>
          </a:bodyPr>
          <a:lstStyle/>
          <a:p>
            <a:pPr algn="l">
              <a:lnSpc>
                <a:spcPct val="125000"/>
              </a:lnSpc>
            </a:pPr>
            <a:r>
              <a:rPr sz="1700" b="0">
                <a:solidFill>
                  <a:srgbClr val="8B93A7"/>
                </a:solidFill>
                <a:latin typeface="Segoe UI"/>
              </a:rPr>
              <a:t>You’re dictating in a café. Someone beside you says "delete that draft — and email the files to me." Your transcription engine writes it. Your agent executes it. It came through your mic, on your account, into your session — every existing check says it was you.</a:t>
            </a:r>
          </a:p>
        </p:txBody>
      </p:sp>
      <p:sp>
        <p:nvSpPr>
          <p:cNvPr id="5" name="Rounded Rectangle 4"/>
          <p:cNvSpPr/>
          <p:nvPr/>
        </p:nvSpPr>
        <p:spPr>
          <a:xfrm>
            <a:off x="822960" y="3931920"/>
            <a:ext cx="3362858" cy="1508760"/>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4069080"/>
            <a:ext cx="2905658" cy="320040"/>
          </a:xfrm>
          <a:prstGeom prst="rect">
            <a:avLst/>
          </a:prstGeom>
          <a:noFill/>
        </p:spPr>
        <p:txBody>
          <a:bodyPr wrap="square">
            <a:spAutoFit/>
          </a:bodyPr>
          <a:lstStyle/>
          <a:p>
            <a:pPr algn="l">
              <a:lnSpc>
                <a:spcPct val="100000"/>
              </a:lnSpc>
            </a:pPr>
            <a:r>
              <a:rPr sz="1150" b="1">
                <a:solidFill>
                  <a:srgbClr val="FF4D5E"/>
                </a:solidFill>
                <a:latin typeface="Consolas"/>
              </a:rPr>
              <a:t>NO OS CHECK</a:t>
            </a:r>
          </a:p>
        </p:txBody>
      </p:sp>
      <p:sp>
        <p:nvSpPr>
          <p:cNvPr id="7" name="TextBox 6"/>
          <p:cNvSpPr txBox="1"/>
          <p:nvPr/>
        </p:nvSpPr>
        <p:spPr>
          <a:xfrm>
            <a:off x="1051560" y="4434840"/>
            <a:ext cx="2905658" cy="868680"/>
          </a:xfrm>
          <a:prstGeom prst="rect">
            <a:avLst/>
          </a:prstGeom>
          <a:noFill/>
        </p:spPr>
        <p:txBody>
          <a:bodyPr wrap="square">
            <a:spAutoFit/>
          </a:bodyPr>
          <a:lstStyle/>
          <a:p>
            <a:pPr algn="l">
              <a:lnSpc>
                <a:spcPct val="115000"/>
              </a:lnSpc>
            </a:pPr>
            <a:r>
              <a:rPr sz="1300" b="0">
                <a:solidFill>
                  <a:srgbClr val="8B93A7"/>
                </a:solidFill>
                <a:latin typeface="Segoe UI"/>
              </a:rPr>
              <a:t>The microphone is a door with no lock — audio in is audio trusted.</a:t>
            </a:r>
          </a:p>
        </p:txBody>
      </p:sp>
      <p:sp>
        <p:nvSpPr>
          <p:cNvPr id="8" name="Rounded Rectangle 7"/>
          <p:cNvSpPr/>
          <p:nvPr/>
        </p:nvSpPr>
        <p:spPr>
          <a:xfrm>
            <a:off x="4414418" y="3931920"/>
            <a:ext cx="3362858" cy="1508760"/>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3018" y="4069080"/>
            <a:ext cx="2905658" cy="320040"/>
          </a:xfrm>
          <a:prstGeom prst="rect">
            <a:avLst/>
          </a:prstGeom>
          <a:noFill/>
        </p:spPr>
        <p:txBody>
          <a:bodyPr wrap="square">
            <a:spAutoFit/>
          </a:bodyPr>
          <a:lstStyle/>
          <a:p>
            <a:pPr algn="l">
              <a:lnSpc>
                <a:spcPct val="100000"/>
              </a:lnSpc>
            </a:pPr>
            <a:r>
              <a:rPr sz="1150" b="1">
                <a:solidFill>
                  <a:srgbClr val="FF4D5E"/>
                </a:solidFill>
                <a:latin typeface="Consolas"/>
              </a:rPr>
              <a:t>NO APP CHECK</a:t>
            </a:r>
          </a:p>
        </p:txBody>
      </p:sp>
      <p:sp>
        <p:nvSpPr>
          <p:cNvPr id="10" name="TextBox 9"/>
          <p:cNvSpPr txBox="1"/>
          <p:nvPr/>
        </p:nvSpPr>
        <p:spPr>
          <a:xfrm>
            <a:off x="4643018" y="4434840"/>
            <a:ext cx="2905658" cy="868680"/>
          </a:xfrm>
          <a:prstGeom prst="rect">
            <a:avLst/>
          </a:prstGeom>
          <a:noFill/>
        </p:spPr>
        <p:txBody>
          <a:bodyPr wrap="square">
            <a:spAutoFit/>
          </a:bodyPr>
          <a:lstStyle/>
          <a:p>
            <a:pPr algn="l">
              <a:lnSpc>
                <a:spcPct val="115000"/>
              </a:lnSpc>
            </a:pPr>
            <a:r>
              <a:rPr sz="1300" b="0">
                <a:solidFill>
                  <a:srgbClr val="8B93A7"/>
                </a:solidFill>
                <a:latin typeface="Segoe UI"/>
              </a:rPr>
              <a:t>Transcribers transcribe everyone. Diarization labels speakers after the fact; nothing blocks them live.</a:t>
            </a:r>
          </a:p>
        </p:txBody>
      </p:sp>
      <p:sp>
        <p:nvSpPr>
          <p:cNvPr id="11" name="Rounded Rectangle 10"/>
          <p:cNvSpPr/>
          <p:nvPr/>
        </p:nvSpPr>
        <p:spPr>
          <a:xfrm>
            <a:off x="8005876" y="3931920"/>
            <a:ext cx="3362858" cy="1508760"/>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34476" y="4069080"/>
            <a:ext cx="2905658" cy="320040"/>
          </a:xfrm>
          <a:prstGeom prst="rect">
            <a:avLst/>
          </a:prstGeom>
          <a:noFill/>
        </p:spPr>
        <p:txBody>
          <a:bodyPr wrap="square">
            <a:spAutoFit/>
          </a:bodyPr>
          <a:lstStyle/>
          <a:p>
            <a:pPr algn="l">
              <a:lnSpc>
                <a:spcPct val="100000"/>
              </a:lnSpc>
            </a:pPr>
            <a:r>
              <a:rPr sz="1150" b="1">
                <a:solidFill>
                  <a:srgbClr val="FF4D5E"/>
                </a:solidFill>
                <a:latin typeface="Consolas"/>
              </a:rPr>
              <a:t>NO PLATFORM CHECK</a:t>
            </a:r>
          </a:p>
        </p:txBody>
      </p:sp>
      <p:sp>
        <p:nvSpPr>
          <p:cNvPr id="13" name="TextBox 12"/>
          <p:cNvSpPr txBox="1"/>
          <p:nvPr/>
        </p:nvSpPr>
        <p:spPr>
          <a:xfrm>
            <a:off x="8234476" y="4434840"/>
            <a:ext cx="2905658" cy="868680"/>
          </a:xfrm>
          <a:prstGeom prst="rect">
            <a:avLst/>
          </a:prstGeom>
          <a:noFill/>
        </p:spPr>
        <p:txBody>
          <a:bodyPr wrap="square">
            <a:spAutoFit/>
          </a:bodyPr>
          <a:lstStyle/>
          <a:p>
            <a:pPr algn="l">
              <a:lnSpc>
                <a:spcPct val="115000"/>
              </a:lnSpc>
            </a:pPr>
            <a:r>
              <a:rPr sz="1300" b="0">
                <a:solidFill>
                  <a:srgbClr val="8B93A7"/>
                </a:solidFill>
                <a:latin typeface="Segoe UI"/>
              </a:rPr>
              <a:t>Voice-agent APIs ship with zero speaker authentication. The account is verified. The human is not.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822960" y="502920"/>
            <a:ext cx="10058400" cy="365760"/>
          </a:xfrm>
          <a:prstGeom prst="rect">
            <a:avLst/>
          </a:prstGeom>
          <a:noFill/>
        </p:spPr>
        <p:txBody>
          <a:bodyPr wrap="square">
            <a:spAutoFit/>
          </a:bodyPr>
          <a:lstStyle/>
          <a:p>
            <a:pPr algn="l">
              <a:lnSpc>
                <a:spcPct val="100000"/>
              </a:lnSpc>
            </a:pPr>
            <a:r>
              <a:rPr sz="1300" b="1">
                <a:solidFill>
                  <a:srgbClr val="2DD47F"/>
                </a:solidFill>
                <a:latin typeface="Consolas"/>
              </a:rPr>
              <a:t>TRUEMIC</a:t>
            </a:r>
          </a:p>
        </p:txBody>
      </p:sp>
      <p:sp>
        <p:nvSpPr>
          <p:cNvPr id="3" name="TextBox 2"/>
          <p:cNvSpPr txBox="1"/>
          <p:nvPr/>
        </p:nvSpPr>
        <p:spPr>
          <a:xfrm>
            <a:off x="822960" y="960120"/>
            <a:ext cx="10515600" cy="822960"/>
          </a:xfrm>
          <a:prstGeom prst="rect">
            <a:avLst/>
          </a:prstGeom>
          <a:noFill/>
        </p:spPr>
        <p:txBody>
          <a:bodyPr wrap="square">
            <a:spAutoFit/>
          </a:bodyPr>
          <a:lstStyle/>
          <a:p>
            <a:pPr algn="l">
              <a:lnSpc>
                <a:spcPct val="100000"/>
              </a:lnSpc>
            </a:pPr>
            <a:r>
              <a:rPr sz="3600" b="1">
                <a:solidFill>
                  <a:srgbClr val="E8ECF4"/>
                </a:solidFill>
                <a:latin typeface="Segoe UI"/>
              </a:rPr>
              <a:t>A personal voice gate, in front of everything.</a:t>
            </a:r>
          </a:p>
        </p:txBody>
      </p:sp>
      <p:sp>
        <p:nvSpPr>
          <p:cNvPr id="4" name="TextBox 3"/>
          <p:cNvSpPr txBox="1"/>
          <p:nvPr/>
        </p:nvSpPr>
        <p:spPr>
          <a:xfrm>
            <a:off x="822960" y="1874519"/>
            <a:ext cx="10332720" cy="1005840"/>
          </a:xfrm>
          <a:prstGeom prst="rect">
            <a:avLst/>
          </a:prstGeom>
          <a:noFill/>
        </p:spPr>
        <p:txBody>
          <a:bodyPr wrap="square">
            <a:spAutoFit/>
          </a:bodyPr>
          <a:lstStyle/>
          <a:p>
            <a:pPr algn="l">
              <a:lnSpc>
                <a:spcPct val="120000"/>
              </a:lnSpc>
            </a:pPr>
            <a:r>
              <a:rPr sz="1600" b="0">
                <a:solidFill>
                  <a:srgbClr val="8B93A7"/>
                </a:solidFill>
                <a:latin typeface="Segoe UI"/>
              </a:rPr>
              <a:t>Enroll once — read a passage three ways in a guided browser flow. From then on TrueMic sits between your microphone and your apps as a virtual mic: audio matching your voiceprint passes; every other voice is muted before it ever leaves your machine.</a:t>
            </a:r>
          </a:p>
        </p:txBody>
      </p:sp>
      <p:sp>
        <p:nvSpPr>
          <p:cNvPr id="5" name="Rounded Rectangle 4"/>
          <p:cNvSpPr/>
          <p:nvPr/>
        </p:nvSpPr>
        <p:spPr>
          <a:xfrm>
            <a:off x="822960" y="2880360"/>
            <a:ext cx="10515600" cy="1234440"/>
          </a:xfrm>
          <a:prstGeom prst="roundRect">
            <a:avLst>
              <a:gd name="adj" fmla="val 6000"/>
            </a:avLst>
          </a:prstGeom>
          <a:solidFill>
            <a:srgbClr val="0D1120"/>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3017520"/>
            <a:ext cx="10058400" cy="1005840"/>
          </a:xfrm>
          <a:prstGeom prst="rect">
            <a:avLst/>
          </a:prstGeom>
          <a:noFill/>
        </p:spPr>
        <p:txBody>
          <a:bodyPr wrap="square">
            <a:spAutoFit/>
          </a:bodyPr>
          <a:lstStyle/>
          <a:p>
            <a:pPr algn="l">
              <a:lnSpc>
                <a:spcPct val="100000"/>
              </a:lnSpc>
            </a:pPr>
            <a:r>
              <a:rPr sz="1400" b="1">
                <a:solidFill>
                  <a:srgbClr val="2DD47F"/>
                </a:solidFill>
                <a:latin typeface="Consolas"/>
              </a:rPr>
              <a:t>● YOUR VOICE — PASSING</a:t>
            </a:r>
            <a:r>
              <a:rPr sz="1300" b="0">
                <a:solidFill>
                  <a:srgbClr val="8B93A7"/>
                </a:solidFill>
                <a:latin typeface="Consolas"/>
              </a:rPr>
              <a:t>   score 0.93 · verified, signed, forwarded</a:t>
            </a:r>
          </a:p>
          <a:p>
            <a:pPr algn="l">
              <a:lnSpc>
                <a:spcPct val="100000"/>
              </a:lnSpc>
            </a:pPr>
            <a:r>
              <a:rPr sz="1400" b="1">
                <a:solidFill>
                  <a:srgbClr val="FF4D5E"/>
                </a:solidFill>
                <a:latin typeface="Consolas"/>
              </a:rPr>
              <a:t>● BLOCKED — NOT YOUR VOICE</a:t>
            </a:r>
            <a:r>
              <a:rPr sz="1300" b="0">
                <a:solidFill>
                  <a:srgbClr val="8B93A7"/>
                </a:solidFill>
                <a:latin typeface="Consolas"/>
              </a:rPr>
              <a:t>   score 0.71 · muted before leaving the machine</a:t>
            </a:r>
          </a:p>
          <a:p>
            <a:pPr algn="l">
              <a:lnSpc>
                <a:spcPct val="100000"/>
              </a:lnSpc>
            </a:pPr>
            <a:r>
              <a:rPr sz="1300" b="0">
                <a:solidFill>
                  <a:srgbClr val="8B93A7"/>
                </a:solidFill>
                <a:latin typeface="Consolas"/>
              </a:rPr>
              <a:t>● rotating watermark token · receiver verifies Ed25519 signature in-browser</a:t>
            </a:r>
          </a:p>
        </p:txBody>
      </p:sp>
      <p:sp>
        <p:nvSpPr>
          <p:cNvPr id="7" name="Rounded Rectangle 6"/>
          <p:cNvSpPr/>
          <p:nvPr/>
        </p:nvSpPr>
        <p:spPr>
          <a:xfrm>
            <a:off x="822960" y="4434840"/>
            <a:ext cx="3362858" cy="1737360"/>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572000"/>
            <a:ext cx="2905658" cy="320040"/>
          </a:xfrm>
          <a:prstGeom prst="rect">
            <a:avLst/>
          </a:prstGeom>
          <a:noFill/>
        </p:spPr>
        <p:txBody>
          <a:bodyPr wrap="square">
            <a:spAutoFit/>
          </a:bodyPr>
          <a:lstStyle/>
          <a:p>
            <a:pPr algn="l">
              <a:lnSpc>
                <a:spcPct val="100000"/>
              </a:lnSpc>
            </a:pPr>
            <a:r>
              <a:rPr sz="1150" b="1">
                <a:solidFill>
                  <a:srgbClr val="2DD47F"/>
                </a:solidFill>
                <a:latin typeface="Consolas"/>
              </a:rPr>
              <a:t>FAIL-CLOSED GATE</a:t>
            </a:r>
          </a:p>
        </p:txBody>
      </p:sp>
      <p:sp>
        <p:nvSpPr>
          <p:cNvPr id="9" name="TextBox 8"/>
          <p:cNvSpPr txBox="1"/>
          <p:nvPr/>
        </p:nvSpPr>
        <p:spPr>
          <a:xfrm>
            <a:off x="1051560" y="4937760"/>
            <a:ext cx="2905658" cy="1097280"/>
          </a:xfrm>
          <a:prstGeom prst="rect">
            <a:avLst/>
          </a:prstGeom>
          <a:noFill/>
        </p:spPr>
        <p:txBody>
          <a:bodyPr wrap="square">
            <a:spAutoFit/>
          </a:bodyPr>
          <a:lstStyle/>
          <a:p>
            <a:pPr algn="l">
              <a:lnSpc>
                <a:spcPct val="115000"/>
              </a:lnSpc>
            </a:pPr>
            <a:r>
              <a:rPr sz="1300" b="0">
                <a:solidFill>
                  <a:srgbClr val="8B93A7"/>
                </a:solidFill>
                <a:latin typeface="Segoe UI"/>
              </a:rPr>
              <a:t>A 1.5 s delay line: the verdict lands before a single sample escapes. Impostors aren't flagged — they're silenced.</a:t>
            </a:r>
          </a:p>
        </p:txBody>
      </p:sp>
      <p:sp>
        <p:nvSpPr>
          <p:cNvPr id="10" name="Rounded Rectangle 9"/>
          <p:cNvSpPr/>
          <p:nvPr/>
        </p:nvSpPr>
        <p:spPr>
          <a:xfrm>
            <a:off x="4414418" y="4434840"/>
            <a:ext cx="3362858" cy="1737360"/>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3018" y="4572000"/>
            <a:ext cx="2905658" cy="320040"/>
          </a:xfrm>
          <a:prstGeom prst="rect">
            <a:avLst/>
          </a:prstGeom>
          <a:noFill/>
        </p:spPr>
        <p:txBody>
          <a:bodyPr wrap="square">
            <a:spAutoFit/>
          </a:bodyPr>
          <a:lstStyle/>
          <a:p>
            <a:pPr algn="l">
              <a:lnSpc>
                <a:spcPct val="100000"/>
              </a:lnSpc>
            </a:pPr>
            <a:r>
              <a:rPr sz="1150" b="1">
                <a:solidFill>
                  <a:srgbClr val="2DD47F"/>
                </a:solidFill>
                <a:latin typeface="Consolas"/>
              </a:rPr>
              <a:t>CRYPTOGRAPHIC RECEIPT</a:t>
            </a:r>
          </a:p>
        </p:txBody>
      </p:sp>
      <p:sp>
        <p:nvSpPr>
          <p:cNvPr id="12" name="TextBox 11"/>
          <p:cNvSpPr txBox="1"/>
          <p:nvPr/>
        </p:nvSpPr>
        <p:spPr>
          <a:xfrm>
            <a:off x="4643018" y="4937760"/>
            <a:ext cx="2905658" cy="1097280"/>
          </a:xfrm>
          <a:prstGeom prst="rect">
            <a:avLst/>
          </a:prstGeom>
          <a:noFill/>
        </p:spPr>
        <p:txBody>
          <a:bodyPr wrap="square">
            <a:spAutoFit/>
          </a:bodyPr>
          <a:lstStyle/>
          <a:p>
            <a:pPr algn="l">
              <a:lnSpc>
                <a:spcPct val="115000"/>
              </a:lnSpc>
            </a:pPr>
            <a:r>
              <a:rPr sz="1300" b="0">
                <a:solidFill>
                  <a:srgbClr val="8B93A7"/>
                </a:solidFill>
                <a:latin typeface="Segoe UI"/>
              </a:rPr>
              <a:t>Verified speech carries a rotating watermark token (Meta AudioSeal). A receiver page proves it — Ed25519, verified client-side.</a:t>
            </a:r>
          </a:p>
        </p:txBody>
      </p:sp>
      <p:sp>
        <p:nvSpPr>
          <p:cNvPr id="13" name="Rounded Rectangle 12"/>
          <p:cNvSpPr/>
          <p:nvPr/>
        </p:nvSpPr>
        <p:spPr>
          <a:xfrm>
            <a:off x="8005876" y="4434840"/>
            <a:ext cx="3362858" cy="1737360"/>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34476" y="4572000"/>
            <a:ext cx="2905658" cy="320040"/>
          </a:xfrm>
          <a:prstGeom prst="rect">
            <a:avLst/>
          </a:prstGeom>
          <a:noFill/>
        </p:spPr>
        <p:txBody>
          <a:bodyPr wrap="square">
            <a:spAutoFit/>
          </a:bodyPr>
          <a:lstStyle/>
          <a:p>
            <a:pPr algn="l">
              <a:lnSpc>
                <a:spcPct val="100000"/>
              </a:lnSpc>
            </a:pPr>
            <a:r>
              <a:rPr sz="1150" b="1">
                <a:solidFill>
                  <a:srgbClr val="2DD47F"/>
                </a:solidFill>
                <a:latin typeface="Consolas"/>
              </a:rPr>
              <a:t>ZERO INTEGRATION</a:t>
            </a:r>
          </a:p>
        </p:txBody>
      </p:sp>
      <p:sp>
        <p:nvSpPr>
          <p:cNvPr id="15" name="TextBox 14"/>
          <p:cNvSpPr txBox="1"/>
          <p:nvPr/>
        </p:nvSpPr>
        <p:spPr>
          <a:xfrm>
            <a:off x="8234476" y="4937760"/>
            <a:ext cx="2905658" cy="1097280"/>
          </a:xfrm>
          <a:prstGeom prst="rect">
            <a:avLst/>
          </a:prstGeom>
          <a:noFill/>
        </p:spPr>
        <p:txBody>
          <a:bodyPr wrap="square">
            <a:spAutoFit/>
          </a:bodyPr>
          <a:lstStyle/>
          <a:p>
            <a:pPr algn="l">
              <a:lnSpc>
                <a:spcPct val="115000"/>
              </a:lnSpc>
            </a:pPr>
            <a:r>
              <a:rPr sz="1300" b="0">
                <a:solidFill>
                  <a:srgbClr val="8B93A7"/>
                </a:solidFill>
                <a:latin typeface="Segoe UI"/>
              </a:rPr>
              <a:t>Works with any app that uses a microphone. No SDK, no platform permission, no cloud.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822960" y="502920"/>
            <a:ext cx="10058400" cy="365760"/>
          </a:xfrm>
          <a:prstGeom prst="rect">
            <a:avLst/>
          </a:prstGeom>
          <a:noFill/>
        </p:spPr>
        <p:txBody>
          <a:bodyPr wrap="square">
            <a:spAutoFit/>
          </a:bodyPr>
          <a:lstStyle/>
          <a:p>
            <a:pPr algn="l">
              <a:lnSpc>
                <a:spcPct val="100000"/>
              </a:lnSpc>
            </a:pPr>
            <a:r>
              <a:rPr sz="1300" b="1">
                <a:solidFill>
                  <a:srgbClr val="2DD47F"/>
                </a:solidFill>
                <a:latin typeface="Consolas"/>
              </a:rPr>
              <a:t>WHAT WE MEASURED, NOT ASSUMED</a:t>
            </a:r>
          </a:p>
        </p:txBody>
      </p:sp>
      <p:sp>
        <p:nvSpPr>
          <p:cNvPr id="3" name="TextBox 2"/>
          <p:cNvSpPr txBox="1"/>
          <p:nvPr/>
        </p:nvSpPr>
        <p:spPr>
          <a:xfrm>
            <a:off x="822960" y="914400"/>
            <a:ext cx="10515600" cy="822960"/>
          </a:xfrm>
          <a:prstGeom prst="rect">
            <a:avLst/>
          </a:prstGeom>
          <a:noFill/>
        </p:spPr>
        <p:txBody>
          <a:bodyPr wrap="square">
            <a:spAutoFit/>
          </a:bodyPr>
          <a:lstStyle/>
          <a:p>
            <a:pPr algn="l">
              <a:lnSpc>
                <a:spcPct val="100000"/>
              </a:lnSpc>
            </a:pPr>
            <a:r>
              <a:rPr sz="3300" b="1">
                <a:solidFill>
                  <a:srgbClr val="E8ECF4"/>
                </a:solidFill>
                <a:latin typeface="Segoe UI"/>
              </a:rPr>
              <a:t>A night of research findings nobody has productized.</a:t>
            </a:r>
          </a:p>
        </p:txBody>
      </p:sp>
      <p:sp>
        <p:nvSpPr>
          <p:cNvPr id="4" name="Rounded Rectangle 3"/>
          <p:cNvSpPr/>
          <p:nvPr/>
        </p:nvSpPr>
        <p:spPr>
          <a:xfrm>
            <a:off x="822960" y="1965960"/>
            <a:ext cx="3362858" cy="1828800"/>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103120"/>
            <a:ext cx="2905658" cy="320040"/>
          </a:xfrm>
          <a:prstGeom prst="rect">
            <a:avLst/>
          </a:prstGeom>
          <a:noFill/>
        </p:spPr>
        <p:txBody>
          <a:bodyPr wrap="square">
            <a:spAutoFit/>
          </a:bodyPr>
          <a:lstStyle/>
          <a:p>
            <a:pPr algn="l">
              <a:lnSpc>
                <a:spcPct val="100000"/>
              </a:lnSpc>
            </a:pPr>
            <a:r>
              <a:rPr sz="1150" b="1">
                <a:solidFill>
                  <a:srgbClr val="2DD47F"/>
                </a:solidFill>
                <a:latin typeface="Consolas"/>
              </a:rPr>
              <a:t>SURVIVES REAL CODECS</a:t>
            </a:r>
          </a:p>
        </p:txBody>
      </p:sp>
      <p:sp>
        <p:nvSpPr>
          <p:cNvPr id="6" name="TextBox 5"/>
          <p:cNvSpPr txBox="1"/>
          <p:nvPr/>
        </p:nvSpPr>
        <p:spPr>
          <a:xfrm>
            <a:off x="1051560" y="2468880"/>
            <a:ext cx="2905658" cy="1188720"/>
          </a:xfrm>
          <a:prstGeom prst="rect">
            <a:avLst/>
          </a:prstGeom>
          <a:noFill/>
        </p:spPr>
        <p:txBody>
          <a:bodyPr wrap="square">
            <a:spAutoFit/>
          </a:bodyPr>
          <a:lstStyle/>
          <a:p>
            <a:pPr algn="l">
              <a:lnSpc>
                <a:spcPct val="115000"/>
              </a:lnSpc>
            </a:pPr>
            <a:r>
              <a:rPr sz="1300" b="0">
                <a:solidFill>
                  <a:srgbClr val="8B93A7"/>
                </a:solidFill>
                <a:latin typeface="Segoe UI"/>
              </a:rPr>
              <a:t>Measured Meta AudioSeal's token through Opus — 95–100% decode through the codec class Zoom runs on.</a:t>
            </a:r>
          </a:p>
        </p:txBody>
      </p:sp>
      <p:sp>
        <p:nvSpPr>
          <p:cNvPr id="7" name="Rounded Rectangle 6"/>
          <p:cNvSpPr/>
          <p:nvPr/>
        </p:nvSpPr>
        <p:spPr>
          <a:xfrm>
            <a:off x="4414418" y="1965960"/>
            <a:ext cx="3362858" cy="1828800"/>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43018" y="2103120"/>
            <a:ext cx="2905658" cy="320040"/>
          </a:xfrm>
          <a:prstGeom prst="rect">
            <a:avLst/>
          </a:prstGeom>
          <a:noFill/>
        </p:spPr>
        <p:txBody>
          <a:bodyPr wrap="square">
            <a:spAutoFit/>
          </a:bodyPr>
          <a:lstStyle/>
          <a:p>
            <a:pPr algn="l">
              <a:lnSpc>
                <a:spcPct val="100000"/>
              </a:lnSpc>
            </a:pPr>
            <a:r>
              <a:rPr sz="1150" b="1">
                <a:solidFill>
                  <a:srgbClr val="2DD47F"/>
                </a:solidFill>
                <a:latin typeface="Consolas"/>
              </a:rPr>
              <a:t>A DISCOVERY IN AUDIOSEAL</a:t>
            </a:r>
          </a:p>
        </p:txBody>
      </p:sp>
      <p:sp>
        <p:nvSpPr>
          <p:cNvPr id="9" name="TextBox 8"/>
          <p:cNvSpPr txBox="1"/>
          <p:nvPr/>
        </p:nvSpPr>
        <p:spPr>
          <a:xfrm>
            <a:off x="4643018" y="2468880"/>
            <a:ext cx="2905658" cy="1188720"/>
          </a:xfrm>
          <a:prstGeom prst="rect">
            <a:avLst/>
          </a:prstGeom>
          <a:noFill/>
        </p:spPr>
        <p:txBody>
          <a:bodyPr wrap="square">
            <a:spAutoFit/>
          </a:bodyPr>
          <a:lstStyle/>
          <a:p>
            <a:pPr algn="l">
              <a:lnSpc>
                <a:spcPct val="115000"/>
              </a:lnSpc>
            </a:pPr>
            <a:r>
              <a:rPr sz="1300" b="0">
                <a:solidFill>
                  <a:srgbClr val="8B93A7"/>
                </a:solidFill>
                <a:latin typeface="Segoe UI"/>
              </a:rPr>
              <a:t>Its streaming detector only decodes at sample-exact alignment. We built the batched phase-lock search it needs.</a:t>
            </a:r>
          </a:p>
        </p:txBody>
      </p:sp>
      <p:sp>
        <p:nvSpPr>
          <p:cNvPr id="10" name="Rounded Rectangle 9"/>
          <p:cNvSpPr/>
          <p:nvPr/>
        </p:nvSpPr>
        <p:spPr>
          <a:xfrm>
            <a:off x="8005876" y="1965960"/>
            <a:ext cx="3362858" cy="1828800"/>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34476" y="2103120"/>
            <a:ext cx="2905658" cy="320040"/>
          </a:xfrm>
          <a:prstGeom prst="rect">
            <a:avLst/>
          </a:prstGeom>
          <a:noFill/>
        </p:spPr>
        <p:txBody>
          <a:bodyPr wrap="square">
            <a:spAutoFit/>
          </a:bodyPr>
          <a:lstStyle/>
          <a:p>
            <a:pPr algn="l">
              <a:lnSpc>
                <a:spcPct val="100000"/>
              </a:lnSpc>
            </a:pPr>
            <a:r>
              <a:rPr sz="1150" b="1">
                <a:solidFill>
                  <a:srgbClr val="2DD47F"/>
                </a:solidFill>
                <a:latin typeface="Consolas"/>
              </a:rPr>
              <a:t>REPLAY ATTACKS REJECTED</a:t>
            </a:r>
          </a:p>
        </p:txBody>
      </p:sp>
      <p:sp>
        <p:nvSpPr>
          <p:cNvPr id="12" name="TextBox 11"/>
          <p:cNvSpPr txBox="1"/>
          <p:nvPr/>
        </p:nvSpPr>
        <p:spPr>
          <a:xfrm>
            <a:off x="8234476" y="2468880"/>
            <a:ext cx="2905658" cy="1188720"/>
          </a:xfrm>
          <a:prstGeom prst="rect">
            <a:avLst/>
          </a:prstGeom>
          <a:noFill/>
        </p:spPr>
        <p:txBody>
          <a:bodyPr wrap="square">
            <a:spAutoFit/>
          </a:bodyPr>
          <a:lstStyle/>
          <a:p>
            <a:pPr algn="l">
              <a:lnSpc>
                <a:spcPct val="115000"/>
              </a:lnSpc>
            </a:pPr>
            <a:r>
              <a:rPr sz="1300" b="0">
                <a:solidFill>
                  <a:srgbClr val="8B93A7"/>
                </a:solidFill>
                <a:latin typeface="Segoe UI"/>
              </a:rPr>
              <a:t>Tokens rotate on 8-second HMAC slots. Replayed recordings read as: watermark present, freshness failed.</a:t>
            </a:r>
          </a:p>
        </p:txBody>
      </p:sp>
      <p:sp>
        <p:nvSpPr>
          <p:cNvPr id="13" name="Rounded Rectangle 12"/>
          <p:cNvSpPr/>
          <p:nvPr/>
        </p:nvSpPr>
        <p:spPr>
          <a:xfrm>
            <a:off x="822960" y="4069080"/>
            <a:ext cx="3362858" cy="1828800"/>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4206240"/>
            <a:ext cx="2905658" cy="320040"/>
          </a:xfrm>
          <a:prstGeom prst="rect">
            <a:avLst/>
          </a:prstGeom>
          <a:noFill/>
        </p:spPr>
        <p:txBody>
          <a:bodyPr wrap="square">
            <a:spAutoFit/>
          </a:bodyPr>
          <a:lstStyle/>
          <a:p>
            <a:pPr algn="l">
              <a:lnSpc>
                <a:spcPct val="100000"/>
              </a:lnSpc>
            </a:pPr>
            <a:r>
              <a:rPr sz="1150" b="1">
                <a:solidFill>
                  <a:srgbClr val="2DD47F"/>
                </a:solidFill>
                <a:latin typeface="Consolas"/>
              </a:rPr>
              <a:t>MICROPHONE FORENSICS</a:t>
            </a:r>
          </a:p>
        </p:txBody>
      </p:sp>
      <p:sp>
        <p:nvSpPr>
          <p:cNvPr id="15" name="TextBox 14"/>
          <p:cNvSpPr txBox="1"/>
          <p:nvPr/>
        </p:nvSpPr>
        <p:spPr>
          <a:xfrm>
            <a:off x="1051560" y="4572000"/>
            <a:ext cx="2905658" cy="1188720"/>
          </a:xfrm>
          <a:prstGeom prst="rect">
            <a:avLst/>
          </a:prstGeom>
          <a:noFill/>
        </p:spPr>
        <p:txBody>
          <a:bodyPr wrap="square">
            <a:spAutoFit/>
          </a:bodyPr>
          <a:lstStyle/>
          <a:p>
            <a:pPr algn="l">
              <a:lnSpc>
                <a:spcPct val="115000"/>
              </a:lnSpc>
            </a:pPr>
            <a:r>
              <a:rPr sz="1300" b="0">
                <a:solidFill>
                  <a:srgbClr val="8B93A7"/>
                </a:solidFill>
                <a:latin typeface="Segoe UI"/>
              </a:rPr>
              <a:t>Forensic mic-fingerprinting research inverted into a live capture-chain check — injected audio trips the alarm.</a:t>
            </a:r>
          </a:p>
        </p:txBody>
      </p:sp>
      <p:sp>
        <p:nvSpPr>
          <p:cNvPr id="16" name="Rounded Rectangle 15"/>
          <p:cNvSpPr/>
          <p:nvPr/>
        </p:nvSpPr>
        <p:spPr>
          <a:xfrm>
            <a:off x="4414418" y="4069080"/>
            <a:ext cx="3362858" cy="1828800"/>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3018" y="4206240"/>
            <a:ext cx="2905658" cy="320040"/>
          </a:xfrm>
          <a:prstGeom prst="rect">
            <a:avLst/>
          </a:prstGeom>
          <a:noFill/>
        </p:spPr>
        <p:txBody>
          <a:bodyPr wrap="square">
            <a:spAutoFit/>
          </a:bodyPr>
          <a:lstStyle/>
          <a:p>
            <a:pPr algn="l">
              <a:lnSpc>
                <a:spcPct val="100000"/>
              </a:lnSpc>
            </a:pPr>
            <a:r>
              <a:rPr sz="1150" b="1">
                <a:solidFill>
                  <a:srgbClr val="2DD47F"/>
                </a:solidFill>
                <a:latin typeface="Consolas"/>
              </a:rPr>
              <a:t>ENROLLMENT VS PHYSICS</a:t>
            </a:r>
          </a:p>
        </p:txBody>
      </p:sp>
      <p:sp>
        <p:nvSpPr>
          <p:cNvPr id="18" name="TextBox 17"/>
          <p:cNvSpPr txBox="1"/>
          <p:nvPr/>
        </p:nvSpPr>
        <p:spPr>
          <a:xfrm>
            <a:off x="4643018" y="4572000"/>
            <a:ext cx="2905658" cy="1188720"/>
          </a:xfrm>
          <a:prstGeom prst="rect">
            <a:avLst/>
          </a:prstGeom>
          <a:noFill/>
        </p:spPr>
        <p:txBody>
          <a:bodyPr wrap="square">
            <a:spAutoFit/>
          </a:bodyPr>
          <a:lstStyle/>
          <a:p>
            <a:pPr algn="l">
              <a:lnSpc>
                <a:spcPct val="115000"/>
              </a:lnSpc>
            </a:pPr>
            <a:r>
              <a:rPr sz="1300" b="0">
                <a:solidFill>
                  <a:srgbClr val="8B93A7"/>
                </a:solidFill>
                <a:latin typeface="Segoe UI"/>
              </a:rPr>
              <a:t>Breath gating by spectral flatness, voiced-frame distillation, multi-style voiceprints, a self-test that catches bad takes in seconds.</a:t>
            </a:r>
          </a:p>
        </p:txBody>
      </p:sp>
      <p:sp>
        <p:nvSpPr>
          <p:cNvPr id="19" name="Rounded Rectangle 18"/>
          <p:cNvSpPr/>
          <p:nvPr/>
        </p:nvSpPr>
        <p:spPr>
          <a:xfrm>
            <a:off x="8005876" y="4069080"/>
            <a:ext cx="3362858" cy="1828800"/>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4476" y="4206240"/>
            <a:ext cx="2905658" cy="320040"/>
          </a:xfrm>
          <a:prstGeom prst="rect">
            <a:avLst/>
          </a:prstGeom>
          <a:noFill/>
        </p:spPr>
        <p:txBody>
          <a:bodyPr wrap="square">
            <a:spAutoFit/>
          </a:bodyPr>
          <a:lstStyle/>
          <a:p>
            <a:pPr algn="l">
              <a:lnSpc>
                <a:spcPct val="100000"/>
              </a:lnSpc>
            </a:pPr>
            <a:r>
              <a:rPr sz="1150" b="1">
                <a:solidFill>
                  <a:srgbClr val="2DD47F"/>
                </a:solidFill>
                <a:latin typeface="Consolas"/>
              </a:rPr>
              <a:t>ENGINEERING DISCIPLINE</a:t>
            </a:r>
          </a:p>
        </p:txBody>
      </p:sp>
      <p:sp>
        <p:nvSpPr>
          <p:cNvPr id="21" name="TextBox 20"/>
          <p:cNvSpPr txBox="1"/>
          <p:nvPr/>
        </p:nvSpPr>
        <p:spPr>
          <a:xfrm>
            <a:off x="8234476" y="4572000"/>
            <a:ext cx="2905658" cy="1188720"/>
          </a:xfrm>
          <a:prstGeom prst="rect">
            <a:avLst/>
          </a:prstGeom>
          <a:noFill/>
        </p:spPr>
        <p:txBody>
          <a:bodyPr wrap="square">
            <a:spAutoFit/>
          </a:bodyPr>
          <a:lstStyle/>
          <a:p>
            <a:pPr algn="l">
              <a:lnSpc>
                <a:spcPct val="115000"/>
              </a:lnSpc>
            </a:pPr>
            <a:r>
              <a:rPr sz="1300" b="0">
                <a:solidFill>
                  <a:srgbClr val="8B93A7"/>
                </a:solidFill>
                <a:latin typeface="Segoe UI"/>
              </a:rPr>
              <a:t>58 automated tests, an offline attack-rehearsal harness with real voices, and a channel-robustness benchmark — all public.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822960" y="502920"/>
            <a:ext cx="10058400" cy="365760"/>
          </a:xfrm>
          <a:prstGeom prst="rect">
            <a:avLst/>
          </a:prstGeom>
          <a:noFill/>
        </p:spPr>
        <p:txBody>
          <a:bodyPr wrap="square">
            <a:spAutoFit/>
          </a:bodyPr>
          <a:lstStyle/>
          <a:p>
            <a:pPr algn="l">
              <a:lnSpc>
                <a:spcPct val="100000"/>
              </a:lnSpc>
            </a:pPr>
            <a:r>
              <a:rPr sz="1300" b="1">
                <a:solidFill>
                  <a:srgbClr val="2DD47F"/>
                </a:solidFill>
                <a:latin typeface="Consolas"/>
              </a:rPr>
              <a:t>NOBODY HAS SHIPPED EXACTLY THIS</a:t>
            </a:r>
          </a:p>
        </p:txBody>
      </p:sp>
      <p:sp>
        <p:nvSpPr>
          <p:cNvPr id="3" name="TextBox 2"/>
          <p:cNvSpPr txBox="1"/>
          <p:nvPr/>
        </p:nvSpPr>
        <p:spPr>
          <a:xfrm>
            <a:off x="822960" y="914400"/>
            <a:ext cx="10515600" cy="822960"/>
          </a:xfrm>
          <a:prstGeom prst="rect">
            <a:avLst/>
          </a:prstGeom>
          <a:noFill/>
        </p:spPr>
        <p:txBody>
          <a:bodyPr wrap="square">
            <a:spAutoFit/>
          </a:bodyPr>
          <a:lstStyle/>
          <a:p>
            <a:pPr algn="l">
              <a:lnSpc>
                <a:spcPct val="100000"/>
              </a:lnSpc>
            </a:pPr>
            <a:r>
              <a:rPr sz="3600" b="1">
                <a:solidFill>
                  <a:srgbClr val="E8ECF4"/>
                </a:solidFill>
                <a:latin typeface="Segoe UI"/>
              </a:rPr>
              <a:t>Everyone else built the easier version.</a:t>
            </a:r>
          </a:p>
        </p:txBody>
      </p:sp>
      <p:sp>
        <p:nvSpPr>
          <p:cNvPr id="4" name="Rounded Rectangle 3"/>
          <p:cNvSpPr/>
          <p:nvPr/>
        </p:nvSpPr>
        <p:spPr>
          <a:xfrm>
            <a:off x="822960" y="1920240"/>
            <a:ext cx="5120640" cy="3749039"/>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103120"/>
            <a:ext cx="4663440" cy="365760"/>
          </a:xfrm>
          <a:prstGeom prst="rect">
            <a:avLst/>
          </a:prstGeom>
          <a:noFill/>
        </p:spPr>
        <p:txBody>
          <a:bodyPr wrap="square">
            <a:spAutoFit/>
          </a:bodyPr>
          <a:lstStyle/>
          <a:p>
            <a:pPr algn="l">
              <a:lnSpc>
                <a:spcPct val="100000"/>
              </a:lnSpc>
            </a:pPr>
            <a:r>
              <a:rPr sz="1300" b="1">
                <a:solidFill>
                  <a:srgbClr val="8B93A7"/>
                </a:solidFill>
                <a:latin typeface="Consolas"/>
              </a:rPr>
              <a:t>THE INDUSTRY</a:t>
            </a:r>
          </a:p>
        </p:txBody>
      </p:sp>
      <p:sp>
        <p:nvSpPr>
          <p:cNvPr id="6" name="TextBox 5"/>
          <p:cNvSpPr txBox="1"/>
          <p:nvPr/>
        </p:nvSpPr>
        <p:spPr>
          <a:xfrm>
            <a:off x="1051560" y="2560320"/>
            <a:ext cx="4663440" cy="3017520"/>
          </a:xfrm>
          <a:prstGeom prst="rect">
            <a:avLst/>
          </a:prstGeom>
          <a:noFill/>
        </p:spPr>
        <p:txBody>
          <a:bodyPr wrap="square">
            <a:spAutoFit/>
          </a:bodyPr>
          <a:lstStyle/>
          <a:p>
            <a:pPr algn="l">
              <a:lnSpc>
                <a:spcPct val="125000"/>
              </a:lnSpc>
            </a:pPr>
            <a:r>
              <a:rPr sz="1400" b="0">
                <a:solidFill>
                  <a:srgbClr val="8B93A7"/>
                </a:solidFill>
                <a:latin typeface="Segoe UI"/>
              </a:rPr>
              <a:t>• Teams &amp; Zoom voice isolation — same mechanism, framed as audio quality. No security claim.</a:t>
            </a:r>
          </a:p>
          <a:p>
            <a:pPr algn="l">
              <a:lnSpc>
                <a:spcPct val="125000"/>
              </a:lnSpc>
            </a:pPr>
            <a:r>
              <a:rPr sz="1400" b="0">
                <a:solidFill>
                  <a:srgbClr val="8B93A7"/>
                </a:solidFill>
                <a:latin typeface="Segoe UI"/>
              </a:rPr>
              <a:t>• Deepfake detectors — receiver-side guessing, an arms race, alert-only.</a:t>
            </a:r>
          </a:p>
          <a:p>
            <a:pPr algn="l">
              <a:lnSpc>
                <a:spcPct val="125000"/>
              </a:lnSpc>
            </a:pPr>
            <a:r>
              <a:rPr sz="1400" b="0">
                <a:solidFill>
                  <a:srgbClr val="8B93A7"/>
                </a:solidFill>
                <a:latin typeface="Segoe UI"/>
              </a:rPr>
              <a:t>• “Verified human” badges — face and device only. The microphone is attested by nobody.</a:t>
            </a:r>
          </a:p>
          <a:p>
            <a:pPr algn="l">
              <a:lnSpc>
                <a:spcPct val="125000"/>
              </a:lnSpc>
            </a:pPr>
            <a:r>
              <a:rPr sz="1400" b="0">
                <a:solidFill>
                  <a:srgbClr val="8B93A7"/>
                </a:solidFill>
                <a:latin typeface="Segoe UI"/>
              </a:rPr>
              <a:t>• Transcribers — diarization compares voices within a recording, after the fact, forgivingly.</a:t>
            </a:r>
          </a:p>
        </p:txBody>
      </p:sp>
      <p:sp>
        <p:nvSpPr>
          <p:cNvPr id="7" name="Rounded Rectangle 6"/>
          <p:cNvSpPr/>
          <p:nvPr/>
        </p:nvSpPr>
        <p:spPr>
          <a:xfrm>
            <a:off x="6217920" y="1920240"/>
            <a:ext cx="5120640" cy="3749039"/>
          </a:xfrm>
          <a:prstGeom prst="roundRect">
            <a:avLst>
              <a:gd name="adj" fmla="val 6000"/>
            </a:avLst>
          </a:prstGeom>
          <a:solidFill>
            <a:srgbClr val="131826"/>
          </a:solidFill>
          <a:ln w="12700">
            <a:solidFill>
              <a:srgbClr val="2DD4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2103120"/>
            <a:ext cx="4663440" cy="365760"/>
          </a:xfrm>
          <a:prstGeom prst="rect">
            <a:avLst/>
          </a:prstGeom>
          <a:noFill/>
        </p:spPr>
        <p:txBody>
          <a:bodyPr wrap="square">
            <a:spAutoFit/>
          </a:bodyPr>
          <a:lstStyle/>
          <a:p>
            <a:pPr algn="l">
              <a:lnSpc>
                <a:spcPct val="100000"/>
              </a:lnSpc>
            </a:pPr>
            <a:r>
              <a:rPr sz="1300" b="1">
                <a:solidFill>
                  <a:srgbClr val="2DD47F"/>
                </a:solidFill>
                <a:latin typeface="Consolas"/>
              </a:rPr>
              <a:t>TRUEMIC</a:t>
            </a:r>
          </a:p>
        </p:txBody>
      </p:sp>
      <p:sp>
        <p:nvSpPr>
          <p:cNvPr id="9" name="TextBox 8"/>
          <p:cNvSpPr txBox="1"/>
          <p:nvPr/>
        </p:nvSpPr>
        <p:spPr>
          <a:xfrm>
            <a:off x="6446520" y="2560320"/>
            <a:ext cx="4663440" cy="3017520"/>
          </a:xfrm>
          <a:prstGeom prst="rect">
            <a:avLst/>
          </a:prstGeom>
          <a:noFill/>
        </p:spPr>
        <p:txBody>
          <a:bodyPr wrap="square">
            <a:spAutoFit/>
          </a:bodyPr>
          <a:lstStyle/>
          <a:p>
            <a:pPr algn="l">
              <a:lnSpc>
                <a:spcPct val="125000"/>
              </a:lnSpc>
            </a:pPr>
            <a:r>
              <a:rPr sz="1400" b="0">
                <a:solidFill>
                  <a:srgbClr val="E8ECF4"/>
                </a:solidFill>
                <a:latin typeface="Segoe UI"/>
              </a:rPr>
              <a:t>• Absolute identity — this audio vs. an enrolled human, not “same as a minute ago.”</a:t>
            </a:r>
          </a:p>
          <a:p>
            <a:pPr algn="l">
              <a:lnSpc>
                <a:spcPct val="125000"/>
              </a:lnSpc>
            </a:pPr>
            <a:r>
              <a:rPr sz="1400" b="0">
                <a:solidFill>
                  <a:srgbClr val="E8ECF4"/>
                </a:solidFill>
                <a:latin typeface="Segoe UI"/>
              </a:rPr>
              <a:t>• Real time — a verdict every 0.5 s, irreversible, fail-closed.</a:t>
            </a:r>
          </a:p>
          <a:p>
            <a:pPr algn="l">
              <a:lnSpc>
                <a:spcPct val="125000"/>
              </a:lnSpc>
            </a:pPr>
            <a:r>
              <a:rPr sz="1400" b="0">
                <a:solidFill>
                  <a:srgbClr val="E8ECF4"/>
                </a:solidFill>
                <a:latin typeface="Segoe UI"/>
              </a:rPr>
              <a:t>• Asserts instead of detects — a proof carried in the audio doesn't decay as generators improve.</a:t>
            </a:r>
          </a:p>
          <a:p>
            <a:pPr algn="l">
              <a:lnSpc>
                <a:spcPct val="125000"/>
              </a:lnSpc>
            </a:pPr>
            <a:r>
              <a:rPr sz="1400" b="0">
                <a:solidFill>
                  <a:srgbClr val="E8ECF4"/>
                </a:solidFill>
                <a:latin typeface="Segoe UI"/>
              </a:rPr>
              <a:t>• Consumer hardware — laptop mics and headsets, calibrated on-site in 90 seconds.</a:t>
            </a:r>
          </a:p>
        </p:txBody>
      </p:sp>
      <p:sp>
        <p:nvSpPr>
          <p:cNvPr id="10" name="TextBox 9"/>
          <p:cNvSpPr txBox="1"/>
          <p:nvPr/>
        </p:nvSpPr>
        <p:spPr>
          <a:xfrm>
            <a:off x="822960" y="5943600"/>
            <a:ext cx="10515600" cy="548640"/>
          </a:xfrm>
          <a:prstGeom prst="rect">
            <a:avLst/>
          </a:prstGeom>
          <a:noFill/>
        </p:spPr>
        <p:txBody>
          <a:bodyPr wrap="square">
            <a:spAutoFit/>
          </a:bodyPr>
          <a:lstStyle/>
          <a:p>
            <a:pPr algn="l">
              <a:lnSpc>
                <a:spcPct val="100000"/>
              </a:lnSpc>
            </a:pPr>
            <a:r>
              <a:rPr sz="1500" b="0">
                <a:solidFill>
                  <a:srgbClr val="8B93A7"/>
                </a:solidFill>
                <a:latin typeface="Segoe UI"/>
              </a:rPr>
              <a:t>The hardest possible variant of the problem — which is why the parts existed for years and the product never did.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TextBox 1"/>
          <p:cNvSpPr txBox="1"/>
          <p:nvPr/>
        </p:nvSpPr>
        <p:spPr>
          <a:xfrm>
            <a:off x="822960" y="502920"/>
            <a:ext cx="10058400" cy="365760"/>
          </a:xfrm>
          <a:prstGeom prst="rect">
            <a:avLst/>
          </a:prstGeom>
          <a:noFill/>
        </p:spPr>
        <p:txBody>
          <a:bodyPr wrap="square">
            <a:spAutoFit/>
          </a:bodyPr>
          <a:lstStyle/>
          <a:p>
            <a:pPr algn="l">
              <a:lnSpc>
                <a:spcPct val="100000"/>
              </a:lnSpc>
            </a:pPr>
            <a:r>
              <a:rPr sz="1300" b="1">
                <a:solidFill>
                  <a:srgbClr val="2DD47F"/>
                </a:solidFill>
                <a:latin typeface="Consolas"/>
              </a:rPr>
              <a:t>BUSINESS DIRECTION</a:t>
            </a:r>
          </a:p>
        </p:txBody>
      </p:sp>
      <p:sp>
        <p:nvSpPr>
          <p:cNvPr id="3" name="TextBox 2"/>
          <p:cNvSpPr txBox="1"/>
          <p:nvPr/>
        </p:nvSpPr>
        <p:spPr>
          <a:xfrm>
            <a:off x="822960" y="914400"/>
            <a:ext cx="10515600" cy="822960"/>
          </a:xfrm>
          <a:prstGeom prst="rect">
            <a:avLst/>
          </a:prstGeom>
          <a:noFill/>
        </p:spPr>
        <p:txBody>
          <a:bodyPr wrap="square">
            <a:spAutoFit/>
          </a:bodyPr>
          <a:lstStyle/>
          <a:p>
            <a:pPr algn="l">
              <a:lnSpc>
                <a:spcPct val="100000"/>
              </a:lnSpc>
            </a:pPr>
            <a:r>
              <a:rPr sz="3400" b="1">
                <a:solidFill>
                  <a:srgbClr val="E8ECF4"/>
                </a:solidFill>
                <a:latin typeface="Segoe UI"/>
              </a:rPr>
              <a:t>The trust layer voice-AI platforms are missing.</a:t>
            </a:r>
          </a:p>
        </p:txBody>
      </p:sp>
      <p:sp>
        <p:nvSpPr>
          <p:cNvPr id="4" name="TextBox 3"/>
          <p:cNvSpPr txBox="1"/>
          <p:nvPr/>
        </p:nvSpPr>
        <p:spPr>
          <a:xfrm>
            <a:off x="822960" y="1874519"/>
            <a:ext cx="10332720" cy="1097280"/>
          </a:xfrm>
          <a:prstGeom prst="rect">
            <a:avLst/>
          </a:prstGeom>
          <a:noFill/>
        </p:spPr>
        <p:txBody>
          <a:bodyPr wrap="square">
            <a:spAutoFit/>
          </a:bodyPr>
          <a:lstStyle/>
          <a:p>
            <a:pPr algn="l">
              <a:lnSpc>
                <a:spcPct val="120000"/>
              </a:lnSpc>
            </a:pPr>
            <a:r>
              <a:rPr sz="1600" b="0">
                <a:solidFill>
                  <a:srgbClr val="8B93A7"/>
                </a:solidFill>
                <a:latin typeface="Segoe UI"/>
              </a:rPr>
              <a:t>Every company betting on voice agents ships powerful ears and zero speaker authentication. OpenAI's realtime voice engine executes for whoever speaks. Dictation startups type whatever the room says. As voice becomes the input layer, that becomes their liability — and our product.</a:t>
            </a:r>
          </a:p>
        </p:txBody>
      </p:sp>
      <p:sp>
        <p:nvSpPr>
          <p:cNvPr id="5" name="Rounded Rectangle 4"/>
          <p:cNvSpPr/>
          <p:nvPr/>
        </p:nvSpPr>
        <p:spPr>
          <a:xfrm>
            <a:off x="822960" y="3200400"/>
            <a:ext cx="3362858" cy="1737360"/>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3337560"/>
            <a:ext cx="2905658" cy="320040"/>
          </a:xfrm>
          <a:prstGeom prst="rect">
            <a:avLst/>
          </a:prstGeom>
          <a:noFill/>
        </p:spPr>
        <p:txBody>
          <a:bodyPr wrap="square">
            <a:spAutoFit/>
          </a:bodyPr>
          <a:lstStyle/>
          <a:p>
            <a:pPr algn="l">
              <a:lnSpc>
                <a:spcPct val="100000"/>
              </a:lnSpc>
            </a:pPr>
            <a:r>
              <a:rPr sz="1150" b="1">
                <a:solidFill>
                  <a:srgbClr val="2DD47F"/>
                </a:solidFill>
                <a:latin typeface="Consolas"/>
              </a:rPr>
              <a:t>NOW</a:t>
            </a:r>
          </a:p>
        </p:txBody>
      </p:sp>
      <p:sp>
        <p:nvSpPr>
          <p:cNvPr id="7" name="TextBox 6"/>
          <p:cNvSpPr txBox="1"/>
          <p:nvPr/>
        </p:nvSpPr>
        <p:spPr>
          <a:xfrm>
            <a:off x="1051560" y="3703320"/>
            <a:ext cx="2905658" cy="1097280"/>
          </a:xfrm>
          <a:prstGeom prst="rect">
            <a:avLst/>
          </a:prstGeom>
          <a:noFill/>
        </p:spPr>
        <p:txBody>
          <a:bodyPr wrap="square">
            <a:spAutoFit/>
          </a:bodyPr>
          <a:lstStyle/>
          <a:p>
            <a:pPr algn="l">
              <a:lnSpc>
                <a:spcPct val="115000"/>
              </a:lnSpc>
            </a:pPr>
            <a:r>
              <a:rPr sz="1300" b="0">
                <a:solidFill>
                  <a:srgbClr val="8B93A7"/>
                </a:solidFill>
                <a:latin typeface="Segoe UI"/>
              </a:rPr>
              <a:t>Working gate + attestation, guided onboarding, an open research trail.</a:t>
            </a:r>
          </a:p>
        </p:txBody>
      </p:sp>
      <p:sp>
        <p:nvSpPr>
          <p:cNvPr id="8" name="Rounded Rectangle 7"/>
          <p:cNvSpPr/>
          <p:nvPr/>
        </p:nvSpPr>
        <p:spPr>
          <a:xfrm>
            <a:off x="4414418" y="3200400"/>
            <a:ext cx="3362858" cy="1737360"/>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3018" y="3337560"/>
            <a:ext cx="2905658" cy="320040"/>
          </a:xfrm>
          <a:prstGeom prst="rect">
            <a:avLst/>
          </a:prstGeom>
          <a:noFill/>
        </p:spPr>
        <p:txBody>
          <a:bodyPr wrap="square">
            <a:spAutoFit/>
          </a:bodyPr>
          <a:lstStyle/>
          <a:p>
            <a:pPr algn="l">
              <a:lnSpc>
                <a:spcPct val="100000"/>
              </a:lnSpc>
            </a:pPr>
            <a:r>
              <a:rPr sz="1150" b="1">
                <a:solidFill>
                  <a:srgbClr val="2DD47F"/>
                </a:solidFill>
                <a:latin typeface="Consolas"/>
              </a:rPr>
              <a:t>NEXT</a:t>
            </a:r>
          </a:p>
        </p:txBody>
      </p:sp>
      <p:sp>
        <p:nvSpPr>
          <p:cNvPr id="10" name="TextBox 9"/>
          <p:cNvSpPr txBox="1"/>
          <p:nvPr/>
        </p:nvSpPr>
        <p:spPr>
          <a:xfrm>
            <a:off x="4643018" y="3703320"/>
            <a:ext cx="2905658" cy="1097280"/>
          </a:xfrm>
          <a:prstGeom prst="rect">
            <a:avLst/>
          </a:prstGeom>
          <a:noFill/>
        </p:spPr>
        <p:txBody>
          <a:bodyPr wrap="square">
            <a:spAutoFit/>
          </a:bodyPr>
          <a:lstStyle/>
          <a:p>
            <a:pPr algn="l">
              <a:lnSpc>
                <a:spcPct val="115000"/>
              </a:lnSpc>
            </a:pPr>
            <a:r>
              <a:rPr sz="1300" b="0">
                <a:solidFill>
                  <a:srgbClr val="8B93A7"/>
                </a:solidFill>
                <a:latin typeface="Segoe UI"/>
              </a:rPr>
              <a:t>Harden across microphones and channels; an SDK for voice-agent runtimes; enrollment anchored to device identity.</a:t>
            </a:r>
          </a:p>
        </p:txBody>
      </p:sp>
      <p:sp>
        <p:nvSpPr>
          <p:cNvPr id="11" name="Rounded Rectangle 10"/>
          <p:cNvSpPr/>
          <p:nvPr/>
        </p:nvSpPr>
        <p:spPr>
          <a:xfrm>
            <a:off x="8005876" y="3200400"/>
            <a:ext cx="3362858" cy="1737360"/>
          </a:xfrm>
          <a:prstGeom prst="roundRect">
            <a:avLst>
              <a:gd name="adj" fmla="val 6000"/>
            </a:avLst>
          </a:prstGeom>
          <a:solidFill>
            <a:srgbClr val="131826"/>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34476" y="3337560"/>
            <a:ext cx="2905658" cy="320040"/>
          </a:xfrm>
          <a:prstGeom prst="rect">
            <a:avLst/>
          </a:prstGeom>
          <a:noFill/>
        </p:spPr>
        <p:txBody>
          <a:bodyPr wrap="square">
            <a:spAutoFit/>
          </a:bodyPr>
          <a:lstStyle/>
          <a:p>
            <a:pPr algn="l">
              <a:lnSpc>
                <a:spcPct val="100000"/>
              </a:lnSpc>
            </a:pPr>
            <a:r>
              <a:rPr sz="1150" b="1">
                <a:solidFill>
                  <a:srgbClr val="2DD47F"/>
                </a:solidFill>
                <a:latin typeface="Consolas"/>
              </a:rPr>
              <a:t>EXIT</a:t>
            </a:r>
          </a:p>
        </p:txBody>
      </p:sp>
      <p:sp>
        <p:nvSpPr>
          <p:cNvPr id="13" name="TextBox 12"/>
          <p:cNvSpPr txBox="1"/>
          <p:nvPr/>
        </p:nvSpPr>
        <p:spPr>
          <a:xfrm>
            <a:off x="8234476" y="3703320"/>
            <a:ext cx="2905658" cy="1097280"/>
          </a:xfrm>
          <a:prstGeom prst="rect">
            <a:avLst/>
          </a:prstGeom>
          <a:noFill/>
        </p:spPr>
        <p:txBody>
          <a:bodyPr wrap="square">
            <a:spAutoFit/>
          </a:bodyPr>
          <a:lstStyle/>
          <a:p>
            <a:pPr algn="l">
              <a:lnSpc>
                <a:spcPct val="115000"/>
              </a:lnSpc>
            </a:pPr>
            <a:r>
              <a:rPr sz="1300" b="0">
                <a:solidFill>
                  <a:srgbClr val="8B93A7"/>
                </a:solidFill>
                <a:latin typeface="Segoe UI"/>
              </a:rPr>
              <a:t>Acquisition by a voice-AI platform — OpenAI, Anthropic, Cursor, Wispr Flow — as the security layer of voice-first computing.</a:t>
            </a:r>
          </a:p>
        </p:txBody>
      </p:sp>
      <p:sp>
        <p:nvSpPr>
          <p:cNvPr id="14" name="Rounded Rectangle 13"/>
          <p:cNvSpPr/>
          <p:nvPr/>
        </p:nvSpPr>
        <p:spPr>
          <a:xfrm>
            <a:off x="822960" y="5212080"/>
            <a:ext cx="10515600" cy="1005840"/>
          </a:xfrm>
          <a:prstGeom prst="roundRect">
            <a:avLst>
              <a:gd name="adj" fmla="val 6000"/>
            </a:avLst>
          </a:prstGeom>
          <a:solidFill>
            <a:srgbClr val="0D1120"/>
          </a:solidFill>
          <a:ln w="12700">
            <a:solidFill>
              <a:srgbClr val="232C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5349240"/>
            <a:ext cx="10058400" cy="822960"/>
          </a:xfrm>
          <a:prstGeom prst="rect">
            <a:avLst/>
          </a:prstGeom>
          <a:noFill/>
        </p:spPr>
        <p:txBody>
          <a:bodyPr wrap="square">
            <a:spAutoFit/>
          </a:bodyPr>
          <a:lstStyle/>
          <a:p>
            <a:pPr algn="l">
              <a:lnSpc>
                <a:spcPct val="100000"/>
              </a:lnSpc>
            </a:pPr>
            <a:r>
              <a:rPr sz="1600" b="0">
                <a:solidFill>
                  <a:srgbClr val="E8ECF4"/>
                </a:solidFill>
                <a:latin typeface="Consolas"/>
              </a:rPr>
              <a:t>Account auth had passwords. Web auth had HTTPS.  </a:t>
            </a:r>
          </a:p>
          <a:p>
            <a:pPr algn="l">
              <a:lnSpc>
                <a:spcPct val="100000"/>
              </a:lnSpc>
            </a:pPr>
            <a:r>
              <a:rPr sz="1600" b="1">
                <a:solidFill>
                  <a:srgbClr val="2DD47F"/>
                </a:solidFill>
                <a:latin typeface="Consolas"/>
              </a:rPr>
              <a:t>Voice-first computing gets TrueMic.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E14"/>
        </a:solidFill>
        <a:effectLst/>
      </p:bgPr>
    </p:bg>
    <p:spTree>
      <p:nvGrpSpPr>
        <p:cNvPr id="1" name=""/>
        <p:cNvGrpSpPr/>
        <p:nvPr/>
      </p:nvGrpSpPr>
      <p:grpSpPr/>
      <p:sp>
        <p:nvSpPr>
          <p:cNvPr id="2" name="Rounded Rectangle 1"/>
          <p:cNvSpPr/>
          <p:nvPr/>
        </p:nvSpPr>
        <p:spPr>
          <a:xfrm>
            <a:off x="822960" y="1097280"/>
            <a:ext cx="1051560" cy="1051560"/>
          </a:xfrm>
          <a:prstGeom prst="roundRect">
            <a:avLst>
              <a:gd name="adj" fmla="val 6000"/>
            </a:avLst>
          </a:prstGeom>
          <a:solidFill>
            <a:srgbClr val="0B0E14"/>
          </a:solidFill>
          <a:ln w="38100">
            <a:solidFill>
              <a:srgbClr val="2DD4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35024"/>
            <a:ext cx="1051560" cy="548640"/>
          </a:xfrm>
          <a:prstGeom prst="rect">
            <a:avLst/>
          </a:prstGeom>
          <a:noFill/>
        </p:spPr>
        <p:txBody>
          <a:bodyPr wrap="square">
            <a:spAutoFit/>
          </a:bodyPr>
          <a:lstStyle/>
          <a:p>
            <a:pPr algn="ctr">
              <a:lnSpc>
                <a:spcPct val="100000"/>
              </a:lnSpc>
            </a:pPr>
            <a:r>
              <a:rPr sz="4000" b="1">
                <a:solidFill>
                  <a:srgbClr val="2DD47F"/>
                </a:solidFill>
                <a:latin typeface="Segoe UI"/>
              </a:rPr>
              <a:t>✓</a:t>
            </a:r>
          </a:p>
        </p:txBody>
      </p:sp>
      <p:sp>
        <p:nvSpPr>
          <p:cNvPr id="4" name="TextBox 3"/>
          <p:cNvSpPr txBox="1"/>
          <p:nvPr/>
        </p:nvSpPr>
        <p:spPr>
          <a:xfrm>
            <a:off x="822960" y="2468880"/>
            <a:ext cx="10607040" cy="1645920"/>
          </a:xfrm>
          <a:prstGeom prst="rect">
            <a:avLst/>
          </a:prstGeom>
          <a:noFill/>
        </p:spPr>
        <p:txBody>
          <a:bodyPr wrap="square">
            <a:spAutoFit/>
          </a:bodyPr>
          <a:lstStyle/>
          <a:p>
            <a:pPr algn="l">
              <a:lnSpc>
                <a:spcPct val="100000"/>
              </a:lnSpc>
            </a:pPr>
            <a:r>
              <a:rPr sz="3800" b="1">
                <a:solidFill>
                  <a:srgbClr val="E8ECF4"/>
                </a:solidFill>
                <a:latin typeface="Segoe UI"/>
              </a:rPr>
              <a:t>Your voice is about to become your keyboard.</a:t>
            </a:r>
          </a:p>
          <a:p>
            <a:pPr algn="l">
              <a:lnSpc>
                <a:spcPct val="100000"/>
              </a:lnSpc>
            </a:pPr>
            <a:r>
              <a:rPr sz="3800" b="1">
                <a:solidFill>
                  <a:srgbClr val="E8ECF4"/>
                </a:solidFill>
                <a:latin typeface="Segoe UI"/>
              </a:rPr>
              <a:t>We make sure it's </a:t>
            </a:r>
            <a:r>
              <a:rPr sz="3800" b="1">
                <a:solidFill>
                  <a:srgbClr val="2DD47F"/>
                </a:solidFill>
                <a:latin typeface="Segoe UI"/>
              </a:rPr>
              <a:t>yours</a:t>
            </a:r>
            <a:r>
              <a:rPr sz="3800" b="1">
                <a:solidFill>
                  <a:srgbClr val="E8ECF4"/>
                </a:solidFill>
                <a:latin typeface="Segoe UI"/>
              </a:rPr>
              <a:t>.</a:t>
            </a:r>
          </a:p>
        </p:txBody>
      </p:sp>
      <p:sp>
        <p:nvSpPr>
          <p:cNvPr id="5" name="TextBox 4"/>
          <p:cNvSpPr txBox="1"/>
          <p:nvPr/>
        </p:nvSpPr>
        <p:spPr>
          <a:xfrm>
            <a:off x="822960" y="4480560"/>
            <a:ext cx="10515600" cy="457200"/>
          </a:xfrm>
          <a:prstGeom prst="rect">
            <a:avLst/>
          </a:prstGeom>
          <a:noFill/>
        </p:spPr>
        <p:txBody>
          <a:bodyPr wrap="square">
            <a:spAutoFit/>
          </a:bodyPr>
          <a:lstStyle/>
          <a:p>
            <a:pPr algn="l">
              <a:lnSpc>
                <a:spcPct val="100000"/>
              </a:lnSpc>
            </a:pPr>
            <a:r>
              <a:rPr sz="1400" b="0">
                <a:solidFill>
                  <a:srgbClr val="2DD47F"/>
                </a:solidFill>
                <a:latin typeface="Consolas"/>
              </a:rPr>
              <a:t>github.com/HuzPro/truemic      python -m truemic.app      58 tests · live demo · open research</a:t>
            </a:r>
          </a:p>
        </p:txBody>
      </p:sp>
      <p:sp>
        <p:nvSpPr>
          <p:cNvPr id="6" name="TextBox 5"/>
          <p:cNvSpPr txBox="1"/>
          <p:nvPr/>
        </p:nvSpPr>
        <p:spPr>
          <a:xfrm>
            <a:off x="822960" y="5120640"/>
            <a:ext cx="10515600" cy="457200"/>
          </a:xfrm>
          <a:prstGeom prst="rect">
            <a:avLst/>
          </a:prstGeom>
          <a:noFill/>
        </p:spPr>
        <p:txBody>
          <a:bodyPr wrap="square">
            <a:spAutoFit/>
          </a:bodyPr>
          <a:lstStyle/>
          <a:p>
            <a:pPr algn="l">
              <a:lnSpc>
                <a:spcPct val="100000"/>
              </a:lnSpc>
            </a:pPr>
            <a:r>
              <a:rPr sz="1800" b="0">
                <a:solidFill>
                  <a:srgbClr val="8B93A7"/>
                </a:solidFill>
                <a:latin typeface="Segoe UI"/>
              </a:rPr>
              <a:t>TrueMic — voice, attested.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